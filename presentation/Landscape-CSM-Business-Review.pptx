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176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60808" y="-36576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76656" y="704088"/>
            <a:ext cx="59436" cy="585216"/>
          </a:xfrm>
          <a:prstGeom prst="rect">
            <a:avLst/>
          </a:prstGeom>
          <a:solidFill>
            <a:srgbClr val="40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41832" y="768096"/>
            <a:ext cx="10058400" cy="27432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408B84"/>
                </a:solidFill>
                <a:latin typeface="Aptos"/>
              </a:defRPr>
            </a:pPr>
            <a:r>
              <a:t>CUSTOMER SUCCESS  /  INTERNAL BUSINESS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1316736"/>
            <a:ext cx="10332720" cy="141732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3200" b="1">
                <a:solidFill>
                  <a:srgbClr val="1F2D3D"/>
                </a:solidFill>
                <a:latin typeface="Aptos"/>
              </a:defRPr>
            </a:pPr>
            <a:r>
              <a:t>Landscape SaaS</a:t>
            </a:r>
          </a:p>
          <a:p>
            <a:pPr>
              <a:spcAft>
                <a:spcPts val="0"/>
              </a:spcAft>
              <a:defRPr sz="3200" b="1">
                <a:solidFill>
                  <a:srgbClr val="1F2D3D"/>
                </a:solidFill>
                <a:latin typeface="Aptos"/>
              </a:defRPr>
            </a:pPr>
            <a:r>
              <a:t>Operational Readiness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026664"/>
            <a:ext cx="10149840" cy="438912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657487"/>
                </a:solidFill>
                <a:latin typeface="Aptos"/>
              </a:defRPr>
            </a:pPr>
            <a:r>
              <a:t>Onboarding · Remote Administration · Customer Risk · Resolution SOP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" y="4069080"/>
            <a:ext cx="3529584" cy="11338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4242816"/>
            <a:ext cx="2971800" cy="36576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486D91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700016"/>
            <a:ext cx="3017520" cy="22860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657487"/>
                </a:solidFill>
                <a:latin typeface="Aptos"/>
              </a:defRPr>
            </a:pPr>
            <a:r>
              <a:t>managed Ubuntu instance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4069080"/>
            <a:ext cx="3529584" cy="11338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10327" y="4242816"/>
            <a:ext cx="2971800" cy="36576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408B84"/>
                </a:solidFill>
                <a:latin typeface="Aptos"/>
              </a:defRPr>
            </a:pPr>
            <a:r>
              <a:t>4 /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10327" y="4700016"/>
            <a:ext cx="3017520" cy="22860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657487"/>
                </a:solidFill>
                <a:latin typeface="Aptos"/>
              </a:defRPr>
            </a:pPr>
            <a:r>
              <a:t>successful recorded activities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30768" y="4069080"/>
            <a:ext cx="3529584" cy="11338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77656" y="4242816"/>
            <a:ext cx="2971800" cy="36576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408B8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77656" y="4700016"/>
            <a:ext cx="3017520" cy="22860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657487"/>
                </a:solidFill>
                <a:latin typeface="Aptos"/>
              </a:defRPr>
            </a:pPr>
            <a:r>
              <a:t>reusable support playbooks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6071616"/>
            <a:ext cx="10789920" cy="292608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657487"/>
                </a:solidFill>
                <a:latin typeface="Aptos"/>
              </a:defRPr>
            </a:pPr>
            <a:r>
              <a:rPr dirty="0"/>
              <a:t>Operational assessment based on one controlled Ubuntu 24.04.4 LTS test instance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B9E614B-0EB4-256D-87C4-E1C8F692466A}"/>
              </a:ext>
            </a:extLst>
          </p:cNvPr>
          <p:cNvSpPr txBox="1"/>
          <p:nvPr/>
        </p:nvSpPr>
        <p:spPr>
          <a:xfrm>
            <a:off x="8677656" y="5966898"/>
            <a:ext cx="323928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100" dirty="0">
                <a:solidFill>
                  <a:srgbClr val="657487"/>
                </a:solidFill>
                <a:latin typeface="Aptos"/>
              </a:rPr>
              <a:t>Felix Tong</a:t>
            </a:r>
          </a:p>
          <a:p>
            <a:r>
              <a:rPr lang="zh-CN" altLang="zh-CN" sz="1100" dirty="0">
                <a:solidFill>
                  <a:srgbClr val="657487"/>
                </a:solidFill>
                <a:latin typeface="Aptos"/>
              </a:rPr>
              <a:t>Graduate Customer Success Manage</a:t>
            </a:r>
            <a:r>
              <a:rPr lang="en-US" altLang="zh-CN" sz="1100" dirty="0">
                <a:solidFill>
                  <a:srgbClr val="657487"/>
                </a:solidFill>
                <a:latin typeface="Aptos"/>
              </a:rPr>
              <a:t>r</a:t>
            </a:r>
          </a:p>
          <a:p>
            <a:r>
              <a:rPr lang="zh-CN" altLang="zh-CN" sz="1100" dirty="0">
                <a:solidFill>
                  <a:srgbClr val="657487"/>
                </a:solidFill>
                <a:latin typeface="Aptos"/>
              </a:rPr>
              <a:t>tongyifei_009@outlook.com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310896"/>
            <a:ext cx="54864" cy="521207"/>
          </a:xfrm>
          <a:prstGeom prst="rect">
            <a:avLst/>
          </a:prstGeom>
          <a:solidFill>
            <a:srgbClr val="40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9144000" cy="22860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408B84"/>
                </a:solidFill>
                <a:latin typeface="Aptos"/>
              </a:defRPr>
            </a:pPr>
            <a:r>
              <a:t>01  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85216"/>
            <a:ext cx="10789920" cy="438912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1F2D3D"/>
                </a:solidFill>
                <a:latin typeface="Aptos"/>
              </a:defRPr>
            </a:pPr>
            <a:r>
              <a:t>Operational snapshot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1143000"/>
            <a:ext cx="10908792" cy="0"/>
          </a:xfrm>
          <a:prstGeom prst="line">
            <a:avLst/>
          </a:prstGeom>
          <a:ln w="15240">
            <a:solidFill>
              <a:srgbClr val="E4E9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6519672"/>
            <a:ext cx="4572000" cy="164592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57487"/>
                </a:solidFill>
                <a:latin typeface="Aptos"/>
              </a:defRPr>
            </a:pPr>
            <a:r>
              <a:t>LANDSCAPE  /  CUSTOMER SUCCESS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6501384"/>
            <a:ext cx="987552" cy="18288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 algn="r">
              <a:spcAft>
                <a:spcPts val="0"/>
              </a:spcAft>
              <a:defRPr sz="900" b="0">
                <a:solidFill>
                  <a:srgbClr val="657487"/>
                </a:solidFill>
                <a:latin typeface="Aptos"/>
              </a:defRPr>
            </a:pPr>
            <a:r>
              <a:t>02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417320"/>
            <a:ext cx="2624328" cy="1527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" y="1572768"/>
            <a:ext cx="2258568" cy="237744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657487"/>
                </a:solidFill>
                <a:latin typeface="Aptos"/>
              </a:defRPr>
            </a:pPr>
            <a:r>
              <a:t>managed instance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1874519"/>
            <a:ext cx="2267712" cy="429768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486D91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496312"/>
            <a:ext cx="2286000" cy="301752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657487"/>
                </a:solidFill>
                <a:latin typeface="Aptos"/>
              </a:defRPr>
            </a:pPr>
            <a:r>
              <a:t>Ubuntu 24.04.4 LTS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38144" y="1417320"/>
            <a:ext cx="2624328" cy="1527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21024" y="1572768"/>
            <a:ext cx="2258568" cy="237744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657487"/>
                </a:solidFill>
                <a:latin typeface="Aptos"/>
              </a:defRPr>
            </a:pPr>
            <a:r>
              <a:t>activities logged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1024" y="1874519"/>
            <a:ext cx="2267712" cy="429768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408B84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1024" y="2496312"/>
            <a:ext cx="2286000" cy="301752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657487"/>
                </a:solidFill>
                <a:latin typeface="Aptos"/>
              </a:defRPr>
            </a:pPr>
            <a:r>
              <a:t>4 succeeded · 2 failed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54496" y="1417320"/>
            <a:ext cx="2624328" cy="1527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37376" y="1572768"/>
            <a:ext cx="2258568" cy="237744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657487"/>
                </a:solidFill>
                <a:latin typeface="Aptos"/>
              </a:defRPr>
            </a:pPr>
            <a:r>
              <a:t>first value milestone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7376" y="1874519"/>
            <a:ext cx="2267712" cy="429768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486D91"/>
                </a:solidFill>
                <a:latin typeface="Aptos"/>
              </a:defRPr>
            </a:pPr>
            <a:r>
              <a:t>Achieved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7376" y="2496312"/>
            <a:ext cx="2286000" cy="301752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657487"/>
                </a:solidFill>
                <a:latin typeface="Aptos"/>
              </a:defRPr>
            </a:pPr>
            <a:r>
              <a:t>Remote script returned expected output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70848" y="1417320"/>
            <a:ext cx="2624328" cy="1527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53728" y="1572768"/>
            <a:ext cx="2258568" cy="237744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657487"/>
                </a:solidFill>
                <a:latin typeface="Aptos"/>
              </a:defRPr>
            </a:pPr>
            <a:r>
              <a:t>support scenarios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53728" y="1874519"/>
            <a:ext cx="2267712" cy="429768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486D91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3728" y="2496312"/>
            <a:ext cx="2286000" cy="301752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657487"/>
                </a:solidFill>
                <a:latin typeface="Aptos"/>
              </a:defRPr>
            </a:pPr>
            <a:r>
              <a:t>Script · tasks · process visibility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" y="3227832"/>
            <a:ext cx="5257800" cy="2724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68680" y="3474720"/>
            <a:ext cx="3657600" cy="292608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1F2D3D"/>
                </a:solidFill>
                <a:latin typeface="Aptos"/>
              </a:defRPr>
            </a:pPr>
            <a:r>
              <a:t>Recorded activity outcome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6112" y="4151376"/>
            <a:ext cx="3035808" cy="448056"/>
          </a:xfrm>
          <a:prstGeom prst="roundRect">
            <a:avLst>
              <a:gd name="adj" fmla="val 10000"/>
            </a:avLst>
          </a:prstGeom>
          <a:solidFill>
            <a:srgbClr val="40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3931920" y="4151376"/>
            <a:ext cx="1517904" cy="448056"/>
          </a:xfrm>
          <a:prstGeom prst="roundRect">
            <a:avLst>
              <a:gd name="adj" fmla="val 10000"/>
            </a:avLst>
          </a:prstGeom>
          <a:solidFill>
            <a:srgbClr val="B78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4400" y="4782312"/>
            <a:ext cx="2194560" cy="27432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408B84"/>
                </a:solidFill>
                <a:latin typeface="Aptos"/>
              </a:defRPr>
            </a:pPr>
            <a:r>
              <a:t>4  Succeeded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99816" y="4782312"/>
            <a:ext cx="2743200" cy="27432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B7894B"/>
                </a:solidFill>
                <a:latin typeface="Aptos"/>
              </a:defRPr>
            </a:pPr>
            <a:r>
              <a:t>2  Failed (script setup)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" y="5358384"/>
            <a:ext cx="4754880" cy="36576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657487"/>
                </a:solidFill>
                <a:latin typeface="Aptos"/>
              </a:defRPr>
            </a:pPr>
            <a:r>
              <a:t>Both failures were resolved before the final script success.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08192" y="3227832"/>
            <a:ext cx="5440680" cy="2724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82512" y="3474720"/>
            <a:ext cx="4663440" cy="27432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1F2D3D"/>
                </a:solidFill>
                <a:latin typeface="Aptos"/>
              </a:defRPr>
            </a:pPr>
            <a:r>
              <a:t>Work completed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19088" y="3931920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E8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19088" y="3936491"/>
            <a:ext cx="219456" cy="210311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408B84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57416" y="3922776"/>
            <a:ext cx="4389120" cy="27432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1F2D3D"/>
                </a:solidFill>
                <a:latin typeface="Aptos"/>
              </a:defRPr>
            </a:pPr>
            <a:r>
              <a:t>Instance registration and online verification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19088" y="4325112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E8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19088" y="4329683"/>
            <a:ext cx="219456" cy="210311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408B84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57416" y="4315968"/>
            <a:ext cx="4389120" cy="27432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1F2D3D"/>
                </a:solidFill>
                <a:latin typeface="Aptos"/>
              </a:defRPr>
            </a:pPr>
            <a:r>
              <a:t>Ubuntu Pro service-status cross-check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19088" y="4718304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E8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19088" y="4722876"/>
            <a:ext cx="219456" cy="210311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408B84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57416" y="4709160"/>
            <a:ext cx="4389120" cy="27432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1F2D3D"/>
                </a:solidFill>
                <a:latin typeface="Aptos"/>
              </a:defRPr>
            </a:pPr>
            <a:r>
              <a:t>Remote script troubleshooting and validation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19088" y="5111496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E8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419088" y="5116068"/>
            <a:ext cx="219456" cy="210311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408B84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57416" y="5102352"/>
            <a:ext cx="4389120" cy="27432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1F2D3D"/>
                </a:solidFill>
                <a:latin typeface="Aptos"/>
              </a:defRPr>
            </a:pPr>
            <a:r>
              <a:t>Package install / uninstall and reboot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310896"/>
            <a:ext cx="54864" cy="521207"/>
          </a:xfrm>
          <a:prstGeom prst="rect">
            <a:avLst/>
          </a:prstGeom>
          <a:solidFill>
            <a:srgbClr val="40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9144000" cy="22860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408B84"/>
                </a:solidFill>
                <a:latin typeface="Aptos"/>
              </a:defRPr>
            </a:pPr>
            <a:r>
              <a:t>02  TEST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85216"/>
            <a:ext cx="10789920" cy="438912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1F2D3D"/>
                </a:solidFill>
                <a:latin typeface="Aptos"/>
              </a:defRPr>
            </a:pPr>
            <a:r>
              <a:t>Validation scope &amp; evidence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1143000"/>
            <a:ext cx="10908792" cy="0"/>
          </a:xfrm>
          <a:prstGeom prst="line">
            <a:avLst/>
          </a:prstGeom>
          <a:ln w="15240">
            <a:solidFill>
              <a:srgbClr val="E4E9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6519672"/>
            <a:ext cx="4572000" cy="164592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57487"/>
                </a:solidFill>
                <a:latin typeface="Aptos"/>
              </a:defRPr>
            </a:pPr>
            <a:r>
              <a:t>LANDSCAPE  /  CUSTOMER SUCCESS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6501384"/>
            <a:ext cx="987552" cy="18288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 algn="r">
              <a:spcAft>
                <a:spcPts val="0"/>
              </a:spcAft>
              <a:defRPr sz="900" b="0">
                <a:solidFill>
                  <a:srgbClr val="657487"/>
                </a:solidFill>
                <a:latin typeface="Aptos"/>
              </a:defRPr>
            </a:pPr>
            <a:r>
              <a:t>03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389888"/>
            <a:ext cx="347472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50392" y="1618488"/>
            <a:ext cx="50292" cy="402336"/>
          </a:xfrm>
          <a:prstGeom prst="rect">
            <a:avLst/>
          </a:prstGeom>
          <a:solidFill>
            <a:srgbClr val="486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24127" y="1572768"/>
            <a:ext cx="2880360" cy="41148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1F2D3D"/>
                </a:solidFill>
                <a:latin typeface="Aptos"/>
              </a:defRPr>
            </a:pPr>
            <a:r>
              <a:t>Environment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148840"/>
            <a:ext cx="2980944" cy="621792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657487"/>
                </a:solidFill>
                <a:latin typeface="Aptos"/>
              </a:defRPr>
            </a:pPr>
            <a:r>
              <a:t>VMware · Ubuntu 24.04.4 LTS</a:t>
            </a:r>
          </a:p>
          <a:p>
            <a:pPr>
              <a:spcAft>
                <a:spcPts val="0"/>
              </a:spcAft>
              <a:defRPr sz="1200" b="0">
                <a:solidFill>
                  <a:srgbClr val="657487"/>
                </a:solidFill>
                <a:latin typeface="Aptos"/>
              </a:defRPr>
            </a:pPr>
            <a:r>
              <a:t>landscape-client 24.02-0ubuntu5.7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389888"/>
            <a:ext cx="347472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99432" y="1618488"/>
            <a:ext cx="50292" cy="402336"/>
          </a:xfrm>
          <a:prstGeom prst="rect">
            <a:avLst/>
          </a:prstGeom>
          <a:solidFill>
            <a:srgbClr val="40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73168" y="1572768"/>
            <a:ext cx="2880360" cy="41148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1F2D3D"/>
                </a:solidFill>
                <a:latin typeface="Aptos"/>
              </a:defRPr>
            </a:pPr>
            <a:r>
              <a:t>Validated actions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8" y="2148840"/>
            <a:ext cx="2980944" cy="621792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657487"/>
                </a:solidFill>
                <a:latin typeface="Aptos"/>
              </a:defRPr>
            </a:pPr>
            <a:r>
              <a:t>Register · Run script · Install/Remove</a:t>
            </a:r>
          </a:p>
          <a:p>
            <a:pPr>
              <a:spcAft>
                <a:spcPts val="0"/>
              </a:spcAft>
              <a:defRPr sz="1200" b="0">
                <a:solidFill>
                  <a:srgbClr val="657487"/>
                </a:solidFill>
                <a:latin typeface="Aptos"/>
              </a:defRPr>
            </a:pPr>
            <a:r>
              <a:t>Restart · Ubuntu Pro status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59" y="1389888"/>
            <a:ext cx="347472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348471" y="1618488"/>
            <a:ext cx="50292" cy="402336"/>
          </a:xfrm>
          <a:prstGeom prst="rect">
            <a:avLst/>
          </a:prstGeom>
          <a:solidFill>
            <a:srgbClr val="486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22207" y="1572768"/>
            <a:ext cx="2880360" cy="41148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1F2D3D"/>
                </a:solidFill>
                <a:latin typeface="Aptos"/>
              </a:defRPr>
            </a:pPr>
            <a:r>
              <a:t>Evidence sources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7" y="2148840"/>
            <a:ext cx="2980944" cy="621792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657487"/>
                </a:solidFill>
                <a:latin typeface="Aptos"/>
              </a:defRPr>
            </a:pPr>
            <a:r>
              <a:t>Landscape UI · Activities output</a:t>
            </a:r>
          </a:p>
          <a:p>
            <a:pPr>
              <a:spcAft>
                <a:spcPts val="0"/>
              </a:spcAft>
              <a:defRPr sz="1200" b="0">
                <a:solidFill>
                  <a:srgbClr val="657487"/>
                </a:solidFill>
                <a:latin typeface="Aptos"/>
              </a:defRPr>
            </a:pPr>
            <a:r>
              <a:t>Terminal cross-check · client logs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172968"/>
            <a:ext cx="6922008" cy="26426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81a017b2-041b-51cb-b8d7-a081fdc754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3383280"/>
            <a:ext cx="6492240" cy="169914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7799831" y="3172968"/>
            <a:ext cx="3730752" cy="26426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83296" y="3465576"/>
            <a:ext cx="3108960" cy="283464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1F2D3D"/>
                </a:solidFill>
                <a:latin typeface="Aptos"/>
              </a:defRPr>
            </a:pPr>
            <a:r>
              <a:t>Scope boundary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3968496"/>
            <a:ext cx="3108960" cy="27432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657487"/>
                </a:solidFill>
                <a:latin typeface="Aptos"/>
              </a:defRPr>
            </a:pPr>
            <a:r>
              <a:t>— Single instance only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83296" y="4343400"/>
            <a:ext cx="3108960" cy="27432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657487"/>
                </a:solidFill>
                <a:latin typeface="Aptos"/>
              </a:defRPr>
            </a:pPr>
            <a:r>
              <a:t>— No production SLA assessment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83296" y="4718304"/>
            <a:ext cx="3108960" cy="27432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657487"/>
                </a:solidFill>
                <a:latin typeface="Aptos"/>
              </a:defRPr>
            </a:pPr>
            <a:r>
              <a:t>— No enterprise-scale validation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83296" y="5093208"/>
            <a:ext cx="3108960" cy="27432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657487"/>
                </a:solidFill>
                <a:latin typeface="Aptos"/>
              </a:defRPr>
            </a:pPr>
            <a:r>
              <a:t>— No real customer interviews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310896"/>
            <a:ext cx="54864" cy="521207"/>
          </a:xfrm>
          <a:prstGeom prst="rect">
            <a:avLst/>
          </a:prstGeom>
          <a:solidFill>
            <a:srgbClr val="40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9144000" cy="22860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408B84"/>
                </a:solidFill>
                <a:latin typeface="Aptos"/>
              </a:defRPr>
            </a:pPr>
            <a:r>
              <a:t>03  TIME TO FIRST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85216"/>
            <a:ext cx="10789920" cy="438912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1F2D3D"/>
                </a:solidFill>
                <a:latin typeface="Aptos"/>
              </a:defRPr>
            </a:pPr>
            <a:r>
              <a:t>From onboarding to first value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1143000"/>
            <a:ext cx="10908792" cy="0"/>
          </a:xfrm>
          <a:prstGeom prst="line">
            <a:avLst/>
          </a:prstGeom>
          <a:ln w="15240">
            <a:solidFill>
              <a:srgbClr val="E4E9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6519672"/>
            <a:ext cx="4572000" cy="164592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57487"/>
                </a:solidFill>
                <a:latin typeface="Aptos"/>
              </a:defRPr>
            </a:pPr>
            <a:r>
              <a:t>LANDSCAPE  /  CUSTOMER SUCCESS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6501384"/>
            <a:ext cx="987552" cy="18288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 algn="r">
              <a:spcAft>
                <a:spcPts val="0"/>
              </a:spcAft>
              <a:defRPr sz="900" b="0">
                <a:solidFill>
                  <a:srgbClr val="657487"/>
                </a:solidFill>
                <a:latin typeface="Aptos"/>
              </a:defRPr>
            </a:pPr>
            <a:r>
              <a:t>04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1865376"/>
            <a:ext cx="1700784" cy="1874519"/>
          </a:xfrm>
          <a:prstGeom prst="roundRect">
            <a:avLst>
              <a:gd name="adj" fmla="val 20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68096" y="2048256"/>
            <a:ext cx="40233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8" y="2084832"/>
            <a:ext cx="347472" cy="219456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486D91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33472"/>
            <a:ext cx="1417320" cy="36576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1F2D3D"/>
                </a:solidFill>
                <a:latin typeface="Aptos"/>
              </a:defRPr>
            </a:pPr>
            <a:r>
              <a:t>Environment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154680"/>
            <a:ext cx="1408176" cy="402336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657487"/>
                </a:solidFill>
                <a:latin typeface="Aptos"/>
              </a:defRPr>
            </a:pPr>
            <a:r>
              <a:t>Ubuntu + VMware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31720" y="2788920"/>
            <a:ext cx="91440" cy="0"/>
          </a:xfrm>
          <a:prstGeom prst="line">
            <a:avLst/>
          </a:prstGeom>
          <a:ln w="19050">
            <a:solidFill>
              <a:srgbClr val="6574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359152" y="2724912"/>
            <a:ext cx="73152" cy="64008"/>
          </a:xfrm>
          <a:prstGeom prst="line">
            <a:avLst/>
          </a:prstGeom>
          <a:ln w="19050">
            <a:solidFill>
              <a:srgbClr val="6574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2359152" y="2788920"/>
            <a:ext cx="73152" cy="64007"/>
          </a:xfrm>
          <a:prstGeom prst="line">
            <a:avLst/>
          </a:prstGeom>
          <a:ln w="19050">
            <a:solidFill>
              <a:srgbClr val="6574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514600" y="1865376"/>
            <a:ext cx="1700784" cy="1874519"/>
          </a:xfrm>
          <a:prstGeom prst="roundRect">
            <a:avLst>
              <a:gd name="adj" fmla="val 20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2670048" y="2048256"/>
            <a:ext cx="40233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697479" y="2084832"/>
            <a:ext cx="347472" cy="219456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486D91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70048" y="2633472"/>
            <a:ext cx="1417320" cy="36576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1F2D3D"/>
                </a:solidFill>
                <a:latin typeface="Aptos"/>
              </a:defRPr>
            </a:pPr>
            <a:r>
              <a:t>Pro enabled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70048" y="3154680"/>
            <a:ext cx="1408176" cy="402336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657487"/>
                </a:solidFill>
                <a:latin typeface="Aptos"/>
              </a:defRPr>
            </a:pPr>
            <a:r>
              <a:t>ESM / Landscape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233672" y="2788920"/>
            <a:ext cx="91440" cy="0"/>
          </a:xfrm>
          <a:prstGeom prst="line">
            <a:avLst/>
          </a:prstGeom>
          <a:ln w="19050">
            <a:solidFill>
              <a:srgbClr val="6574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261104" y="2724912"/>
            <a:ext cx="73152" cy="64008"/>
          </a:xfrm>
          <a:prstGeom prst="line">
            <a:avLst/>
          </a:prstGeom>
          <a:ln w="19050">
            <a:solidFill>
              <a:srgbClr val="6574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4261104" y="2788920"/>
            <a:ext cx="73152" cy="64007"/>
          </a:xfrm>
          <a:prstGeom prst="line">
            <a:avLst/>
          </a:prstGeom>
          <a:ln w="19050">
            <a:solidFill>
              <a:srgbClr val="6574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416552" y="1865376"/>
            <a:ext cx="1700784" cy="1874519"/>
          </a:xfrm>
          <a:prstGeom prst="roundRect">
            <a:avLst>
              <a:gd name="adj" fmla="val 20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572000" y="2048256"/>
            <a:ext cx="40233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99432" y="2084832"/>
            <a:ext cx="347472" cy="219456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486D91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2633472"/>
            <a:ext cx="1417320" cy="36576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1F2D3D"/>
                </a:solidFill>
                <a:latin typeface="Aptos"/>
              </a:defRPr>
            </a:pPr>
            <a:r>
              <a:t>Device online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3154680"/>
            <a:ext cx="1408176" cy="402336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657487"/>
                </a:solidFill>
                <a:latin typeface="Aptos"/>
              </a:defRPr>
            </a:pPr>
            <a:r>
              <a:t>Registered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135624" y="2788920"/>
            <a:ext cx="91440" cy="0"/>
          </a:xfrm>
          <a:prstGeom prst="line">
            <a:avLst/>
          </a:prstGeom>
          <a:ln w="19050">
            <a:solidFill>
              <a:srgbClr val="6574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163056" y="2724912"/>
            <a:ext cx="73152" cy="64008"/>
          </a:xfrm>
          <a:prstGeom prst="line">
            <a:avLst/>
          </a:prstGeom>
          <a:ln w="19050">
            <a:solidFill>
              <a:srgbClr val="6574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6163056" y="2788920"/>
            <a:ext cx="73152" cy="64007"/>
          </a:xfrm>
          <a:prstGeom prst="line">
            <a:avLst/>
          </a:prstGeom>
          <a:ln w="19050">
            <a:solidFill>
              <a:srgbClr val="6574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318504" y="1865376"/>
            <a:ext cx="1700784" cy="1874519"/>
          </a:xfrm>
          <a:prstGeom prst="roundRect">
            <a:avLst>
              <a:gd name="adj" fmla="val 20000"/>
            </a:avLst>
          </a:prstGeom>
          <a:solidFill>
            <a:srgbClr val="F8F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6473952" y="2048256"/>
            <a:ext cx="40233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01384" y="2084832"/>
            <a:ext cx="347472" cy="219456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B7894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73952" y="2633472"/>
            <a:ext cx="1417320" cy="36576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1F2D3D"/>
                </a:solidFill>
                <a:latin typeface="Aptos"/>
              </a:defRPr>
            </a:pPr>
            <a:r>
              <a:t>First run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73952" y="3154680"/>
            <a:ext cx="1408176" cy="402336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657487"/>
                </a:solidFill>
                <a:latin typeface="Aptos"/>
              </a:defRPr>
            </a:pPr>
            <a:r>
              <a:t>Script failed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037575" y="2788920"/>
            <a:ext cx="91441" cy="0"/>
          </a:xfrm>
          <a:prstGeom prst="line">
            <a:avLst/>
          </a:prstGeom>
          <a:ln w="19050">
            <a:solidFill>
              <a:srgbClr val="6574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065008" y="2724912"/>
            <a:ext cx="73152" cy="64008"/>
          </a:xfrm>
          <a:prstGeom prst="line">
            <a:avLst/>
          </a:prstGeom>
          <a:ln w="19050">
            <a:solidFill>
              <a:srgbClr val="6574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8065008" y="2788920"/>
            <a:ext cx="73152" cy="64007"/>
          </a:xfrm>
          <a:prstGeom prst="line">
            <a:avLst/>
          </a:prstGeom>
          <a:ln w="19050">
            <a:solidFill>
              <a:srgbClr val="6574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8220456" y="1865376"/>
            <a:ext cx="1700784" cy="1874519"/>
          </a:xfrm>
          <a:prstGeom prst="roundRect">
            <a:avLst>
              <a:gd name="adj" fmla="val 20000"/>
            </a:avLst>
          </a:prstGeom>
          <a:solidFill>
            <a:srgbClr val="F8F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8375904" y="2048256"/>
            <a:ext cx="40233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403336" y="2084832"/>
            <a:ext cx="347472" cy="219456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B7894B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75904" y="2633472"/>
            <a:ext cx="1417320" cy="36576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1F2D3D"/>
                </a:solidFill>
                <a:latin typeface="Aptos"/>
              </a:defRPr>
            </a:pPr>
            <a:r>
              <a:t>Remediated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75904" y="3154680"/>
            <a:ext cx="1408176" cy="402336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657487"/>
                </a:solidFill>
                <a:latin typeface="Aptos"/>
              </a:defRPr>
            </a:pPr>
            <a:r>
              <a:t>Plugin + identity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939528" y="2788920"/>
            <a:ext cx="91440" cy="0"/>
          </a:xfrm>
          <a:prstGeom prst="line">
            <a:avLst/>
          </a:prstGeom>
          <a:ln w="19050">
            <a:solidFill>
              <a:srgbClr val="6574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966960" y="2724912"/>
            <a:ext cx="73152" cy="64008"/>
          </a:xfrm>
          <a:prstGeom prst="line">
            <a:avLst/>
          </a:prstGeom>
          <a:ln w="19050">
            <a:solidFill>
              <a:srgbClr val="6574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9966960" y="2788920"/>
            <a:ext cx="73152" cy="64007"/>
          </a:xfrm>
          <a:prstGeom prst="line">
            <a:avLst/>
          </a:prstGeom>
          <a:ln w="19050">
            <a:solidFill>
              <a:srgbClr val="6574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10122408" y="1865376"/>
            <a:ext cx="1700784" cy="1874519"/>
          </a:xfrm>
          <a:prstGeom prst="roundRect">
            <a:avLst>
              <a:gd name="adj" fmla="val 20000"/>
            </a:avLst>
          </a:prstGeom>
          <a:solidFill>
            <a:srgbClr val="E8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10277856" y="2048256"/>
            <a:ext cx="40233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0305288" y="2084832"/>
            <a:ext cx="347472" cy="219456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408B84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277856" y="2633472"/>
            <a:ext cx="1417320" cy="36576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1F2D3D"/>
                </a:solidFill>
                <a:latin typeface="Aptos"/>
              </a:defRPr>
            </a:pPr>
            <a:r>
              <a:t>Value proven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277856" y="3154680"/>
            <a:ext cx="1408176" cy="402336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657487"/>
                </a:solidFill>
                <a:latin typeface="Aptos"/>
              </a:defRPr>
            </a:pPr>
            <a:r>
              <a:t>Script succeeded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58368" y="4279392"/>
            <a:ext cx="10890504" cy="11978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950976" y="4654296"/>
            <a:ext cx="393192" cy="393192"/>
          </a:xfrm>
          <a:prstGeom prst="roundRect">
            <a:avLst>
              <a:gd name="adj" fmla="val 50000"/>
            </a:avLst>
          </a:prstGeom>
          <a:solidFill>
            <a:srgbClr val="E8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50976" y="4658868"/>
            <a:ext cx="393192" cy="384048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408B84"/>
                </a:solidFill>
                <a:latin typeface="Aptos"/>
              </a:defRPr>
            </a:pPr>
            <a:r>
              <a:t>◎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517904" y="4498848"/>
            <a:ext cx="9637776" cy="448056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1F2D3D"/>
                </a:solidFill>
                <a:latin typeface="Aptos"/>
              </a:defRPr>
            </a:pPr>
            <a:r>
              <a:t>TTFV achieved after the first successful, verifiable remote script execution.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2960" y="5760720"/>
            <a:ext cx="10607040" cy="32004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657487"/>
                </a:solidFill>
                <a:latin typeface="Aptos"/>
              </a:defRPr>
            </a:pPr>
            <a:r>
              <a:t>Key friction points: account configuration, script execution prerequisites, and user permission restrictions.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310896"/>
            <a:ext cx="54864" cy="521207"/>
          </a:xfrm>
          <a:prstGeom prst="rect">
            <a:avLst/>
          </a:prstGeom>
          <a:solidFill>
            <a:srgbClr val="40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9144000" cy="22860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408B84"/>
                </a:solidFill>
                <a:latin typeface="Aptos"/>
              </a:defRPr>
            </a:pPr>
            <a:r>
              <a:t>04  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85216"/>
            <a:ext cx="10789920" cy="438912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1F2D3D"/>
                </a:solidFill>
                <a:latin typeface="Aptos"/>
              </a:defRPr>
            </a:pPr>
            <a:r>
              <a:t>Script execution: issue to resolution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1143000"/>
            <a:ext cx="10908792" cy="0"/>
          </a:xfrm>
          <a:prstGeom prst="line">
            <a:avLst/>
          </a:prstGeom>
          <a:ln w="15240">
            <a:solidFill>
              <a:srgbClr val="E4E9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6519672"/>
            <a:ext cx="4572000" cy="164592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57487"/>
                </a:solidFill>
                <a:latin typeface="Aptos"/>
              </a:defRPr>
            </a:pPr>
            <a:r>
              <a:t>LANDSCAPE  /  CUSTOMER SUCCESS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6501384"/>
            <a:ext cx="987552" cy="18288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 algn="r">
              <a:spcAft>
                <a:spcPts val="0"/>
              </a:spcAft>
              <a:defRPr sz="900" b="0">
                <a:solidFill>
                  <a:srgbClr val="657487"/>
                </a:solidFill>
                <a:latin typeface="Aptos"/>
              </a:defRPr>
            </a:pPr>
            <a:r>
              <a:t>05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435608"/>
            <a:ext cx="6858000" cy="11338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22960" y="1636776"/>
            <a:ext cx="804672" cy="713232"/>
          </a:xfrm>
          <a:prstGeom prst="roundRect">
            <a:avLst>
              <a:gd name="adj" fmla="val 20000"/>
            </a:avLst>
          </a:prstGeom>
          <a:solidFill>
            <a:srgbClr val="F8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7824" y="1837944"/>
            <a:ext cx="713232" cy="301752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B77070"/>
                </a:solidFill>
                <a:latin typeface="Aptos"/>
              </a:defRPr>
            </a:pPr>
            <a:r>
              <a:t>17:46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7088" y="1609344"/>
            <a:ext cx="5257800" cy="347472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1F2D3D"/>
                </a:solidFill>
                <a:latin typeface="Aptos"/>
              </a:defRPr>
            </a:pPr>
            <a:r>
              <a:t>Plugin unavailable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47088" y="2020824"/>
            <a:ext cx="5047488" cy="301752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657487"/>
                </a:solidFill>
                <a:latin typeface="Aptos"/>
              </a:defRPr>
            </a:pPr>
            <a:r>
              <a:t>ScriptExecution not enabled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64224" y="1609344"/>
            <a:ext cx="950976" cy="292608"/>
          </a:xfrm>
          <a:prstGeom prst="roundRect">
            <a:avLst>
              <a:gd name="adj" fmla="val 50000"/>
            </a:avLst>
          </a:prstGeom>
          <a:solidFill>
            <a:srgbClr val="F8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91656" y="1645920"/>
            <a:ext cx="896112" cy="219456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B77070"/>
                </a:solidFill>
                <a:latin typeface="Aptos"/>
              </a:defRPr>
            </a:pPr>
            <a:r>
              <a:t>FAILED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834640"/>
            <a:ext cx="6858000" cy="11338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22960" y="3035808"/>
            <a:ext cx="804672" cy="713232"/>
          </a:xfrm>
          <a:prstGeom prst="roundRect">
            <a:avLst>
              <a:gd name="adj" fmla="val 20000"/>
            </a:avLst>
          </a:prstGeom>
          <a:solidFill>
            <a:srgbClr val="F8F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77824" y="3236976"/>
            <a:ext cx="713232" cy="301752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B7894B"/>
                </a:solidFill>
                <a:latin typeface="Aptos"/>
              </a:defRPr>
            </a:pPr>
            <a:r>
              <a:t>18:06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47088" y="3008376"/>
            <a:ext cx="5257800" cy="347472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1F2D3D"/>
                </a:solidFill>
                <a:latin typeface="Aptos"/>
              </a:defRPr>
            </a:pPr>
            <a:r>
              <a:t>Root user rejected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47088" y="3419856"/>
            <a:ext cx="5047488" cy="301752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657487"/>
                </a:solidFill>
                <a:latin typeface="Aptos"/>
              </a:defRPr>
            </a:pPr>
            <a:r>
              <a:t>Execution identity restricted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64224" y="3008376"/>
            <a:ext cx="950976" cy="292608"/>
          </a:xfrm>
          <a:prstGeom prst="roundRect">
            <a:avLst>
              <a:gd name="adj" fmla="val 50000"/>
            </a:avLst>
          </a:prstGeom>
          <a:solidFill>
            <a:srgbClr val="F8F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91656" y="3044952"/>
            <a:ext cx="896112" cy="219456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B7894B"/>
                </a:solidFill>
                <a:latin typeface="Aptos"/>
              </a:defRPr>
            </a:pPr>
            <a:r>
              <a:t>FAILED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233672"/>
            <a:ext cx="6858000" cy="11338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22960" y="4434840"/>
            <a:ext cx="804672" cy="713232"/>
          </a:xfrm>
          <a:prstGeom prst="roundRect">
            <a:avLst>
              <a:gd name="adj" fmla="val 20000"/>
            </a:avLst>
          </a:prstGeom>
          <a:solidFill>
            <a:srgbClr val="E8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77824" y="4636008"/>
            <a:ext cx="713232" cy="301752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408B84"/>
                </a:solidFill>
                <a:latin typeface="Aptos"/>
              </a:defRPr>
            </a:pPr>
            <a:r>
              <a:t>18:13 → 18:16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47088" y="4407408"/>
            <a:ext cx="5257800" cy="347472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1F2D3D"/>
                </a:solidFill>
                <a:latin typeface="Aptos"/>
              </a:defRPr>
            </a:pPr>
            <a:r>
              <a:t>Authorized execution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47088" y="4818888"/>
            <a:ext cx="5047488" cy="301752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657487"/>
                </a:solidFill>
                <a:latin typeface="Aptos"/>
              </a:defRPr>
            </a:pPr>
            <a:r>
              <a:t>Hostname, uptime and dpkg returned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64224" y="4407408"/>
            <a:ext cx="950976" cy="292608"/>
          </a:xfrm>
          <a:prstGeom prst="roundRect">
            <a:avLst>
              <a:gd name="adj" fmla="val 50000"/>
            </a:avLst>
          </a:prstGeom>
          <a:solidFill>
            <a:srgbClr val="E8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91656" y="4443984"/>
            <a:ext cx="896112" cy="219456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408B84"/>
                </a:solidFill>
                <a:latin typeface="Aptos"/>
              </a:defRPr>
            </a:pPr>
            <a:r>
              <a:t>SUCCEEDED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54112" y="1435608"/>
            <a:ext cx="3776472" cy="401421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01000" y="1682496"/>
            <a:ext cx="3063240" cy="36576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1F2D3D"/>
                </a:solidFill>
                <a:latin typeface="Aptos"/>
              </a:defRPr>
            </a:pPr>
            <a:r>
              <a:t>Validated remediation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91856" y="2258568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991856" y="2263140"/>
            <a:ext cx="256032" cy="246888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486D91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5048" y="2258568"/>
            <a:ext cx="2798064" cy="402336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1F2D3D"/>
                </a:solidFill>
                <a:latin typeface="Aptos"/>
              </a:defRPr>
            </a:pPr>
            <a:r>
              <a:t>Inspect manager.log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91856" y="2871216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991856" y="2875788"/>
            <a:ext cx="256032" cy="246888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486D91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85048" y="2871216"/>
            <a:ext cx="2798064" cy="402336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1F2D3D"/>
                </a:solidFill>
                <a:latin typeface="Aptos"/>
              </a:defRPr>
            </a:pPr>
            <a:r>
              <a:t>Enable ScriptExecution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91856" y="3483864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991856" y="3488436"/>
            <a:ext cx="256032" cy="246888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486D91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5048" y="3483864"/>
            <a:ext cx="2798064" cy="402336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1F2D3D"/>
                </a:solidFill>
                <a:latin typeface="Aptos"/>
              </a:defRPr>
            </a:pPr>
            <a:r>
              <a:t>Set script_users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991856" y="4096512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991856" y="4101084"/>
            <a:ext cx="256032" cy="246888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486D91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85048" y="4096512"/>
            <a:ext cx="2798064" cy="402336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1F2D3D"/>
                </a:solidFill>
                <a:latin typeface="Aptos"/>
              </a:defRPr>
            </a:pPr>
            <a:r>
              <a:t>Rerun as authorized user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76656" y="5641848"/>
            <a:ext cx="10835640" cy="484632"/>
          </a:xfrm>
          <a:prstGeom prst="roundRect">
            <a:avLst>
              <a:gd name="adj" fmla="val 12000"/>
            </a:avLst>
          </a:prstGeom>
          <a:solidFill>
            <a:srgbClr val="E8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14400" y="5760720"/>
            <a:ext cx="10241280" cy="265176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408B84"/>
                </a:solidFill>
                <a:latin typeface="Aptos"/>
              </a:defRPr>
            </a:pPr>
            <a:r>
              <a:t>Outcome: remote execution restored without bypassing root-user restrictions.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310896"/>
            <a:ext cx="54864" cy="521207"/>
          </a:xfrm>
          <a:prstGeom prst="rect">
            <a:avLst/>
          </a:prstGeom>
          <a:solidFill>
            <a:srgbClr val="40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9144000" cy="22860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408B84"/>
                </a:solidFill>
                <a:latin typeface="Aptos"/>
              </a:defRPr>
            </a:pPr>
            <a:r>
              <a:t>05  DELIVERY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85216"/>
            <a:ext cx="10789920" cy="438912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1F2D3D"/>
                </a:solidFill>
                <a:latin typeface="Aptos"/>
              </a:defRPr>
            </a:pPr>
            <a:r>
              <a:t>Remote administration validation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1143000"/>
            <a:ext cx="10908792" cy="0"/>
          </a:xfrm>
          <a:prstGeom prst="line">
            <a:avLst/>
          </a:prstGeom>
          <a:ln w="15240">
            <a:solidFill>
              <a:srgbClr val="E4E9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6519672"/>
            <a:ext cx="4572000" cy="164592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57487"/>
                </a:solidFill>
                <a:latin typeface="Aptos"/>
              </a:defRPr>
            </a:pPr>
            <a:r>
              <a:t>LANDSCAPE  /  CUSTOMER SUCCESS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6501384"/>
            <a:ext cx="987552" cy="18288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 algn="r">
              <a:spcAft>
                <a:spcPts val="0"/>
              </a:spcAft>
              <a:defRPr sz="900" b="0">
                <a:solidFill>
                  <a:srgbClr val="657487"/>
                </a:solidFill>
                <a:latin typeface="Aptos"/>
              </a:defRPr>
            </a:pPr>
            <a:r>
              <a:t>06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" y="1417320"/>
            <a:ext cx="3529584" cy="2514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05256" y="1673352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E8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1709928"/>
            <a:ext cx="996695" cy="219456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408B84"/>
                </a:solidFill>
                <a:latin typeface="Aptos"/>
              </a:defRPr>
            </a:pPr>
            <a:r>
              <a:t>INSTALL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212848"/>
            <a:ext cx="2971800" cy="356616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1F2D3D"/>
                </a:solidFill>
                <a:latin typeface="Aptos"/>
              </a:defRPr>
            </a:pPr>
            <a:r>
              <a:t>cbonsai 1.3.1-1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816352"/>
            <a:ext cx="2926080" cy="32004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486D91"/>
                </a:solidFill>
                <a:latin typeface="Aptos"/>
              </a:defRPr>
            </a:pPr>
            <a:r>
              <a:t>21:47 → 21:50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218688"/>
            <a:ext cx="2926080" cy="50292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657487"/>
                </a:solidFill>
                <a:latin typeface="Aptos"/>
              </a:defRPr>
            </a:pPr>
            <a:r>
              <a:t>Local dpkg-query confirmed installed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71416" y="1417320"/>
            <a:ext cx="3529584" cy="2514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709160" y="1673352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E8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36592" y="1709928"/>
            <a:ext cx="996695" cy="219456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408B84"/>
                </a:solidFill>
                <a:latin typeface="Aptos"/>
              </a:defRPr>
            </a:pPr>
            <a:r>
              <a:t>REMOVE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2212848"/>
            <a:ext cx="2971800" cy="356616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1F2D3D"/>
                </a:solidFill>
                <a:latin typeface="Aptos"/>
              </a:defRPr>
            </a:pPr>
            <a:r>
              <a:t>cbonsai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2816352"/>
            <a:ext cx="2926080" cy="32004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486D91"/>
                </a:solidFill>
                <a:latin typeface="Aptos"/>
              </a:defRPr>
            </a:pPr>
            <a:r>
              <a:t>21:56 → 21:59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3218688"/>
            <a:ext cx="2926080" cy="50292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657487"/>
                </a:solidFill>
                <a:latin typeface="Aptos"/>
              </a:defRPr>
            </a:pPr>
            <a:r>
              <a:t>Local query confirmed not installed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75320" y="1417320"/>
            <a:ext cx="3529584" cy="2514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513064" y="1673352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E8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40496" y="1709928"/>
            <a:ext cx="996695" cy="219456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408B84"/>
                </a:solidFill>
                <a:latin typeface="Aptos"/>
              </a:defRPr>
            </a:pPr>
            <a:r>
              <a:t>REBOOT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13064" y="2212848"/>
            <a:ext cx="2971800" cy="356616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1F2D3D"/>
                </a:solidFill>
                <a:latin typeface="Aptos"/>
              </a:defRPr>
            </a:pPr>
            <a:r>
              <a:t>Ubuntu instance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13064" y="2816352"/>
            <a:ext cx="2926080" cy="32004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486D91"/>
                </a:solidFill>
                <a:latin typeface="Aptos"/>
              </a:defRPr>
            </a:pPr>
            <a:r>
              <a:t>22:09 → 22:12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13064" y="3218688"/>
            <a:ext cx="2926080" cy="50292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657487"/>
                </a:solidFill>
                <a:latin typeface="Aptos"/>
              </a:defRPr>
            </a:pPr>
            <a:r>
              <a:t>Instance later returned Online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7512" y="4215384"/>
            <a:ext cx="10954512" cy="1517904"/>
          </a:xfrm>
          <a:prstGeom prst="roundRect">
            <a:avLst>
              <a:gd name="adj" fmla="val 12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32688" y="4443984"/>
            <a:ext cx="1856231" cy="347472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486D91"/>
                </a:solidFill>
                <a:latin typeface="Aptos"/>
              </a:defRPr>
            </a:pPr>
            <a:r>
              <a:t>Auditability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88336" y="4791456"/>
            <a:ext cx="8366760" cy="91440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1F2D3D"/>
                </a:solidFill>
                <a:latin typeface="Aptos"/>
              </a:defRPr>
            </a:pPr>
            <a:r>
              <a:t>Activities records creation, delivery, completion, outcome and command output.</a:t>
            </a:r>
          </a:p>
          <a:p>
            <a:pPr>
              <a:spcAft>
                <a:spcPts val="0"/>
              </a:spcAft>
              <a:defRPr sz="1400" b="0">
                <a:solidFill>
                  <a:srgbClr val="1F2D3D"/>
                </a:solidFill>
                <a:latin typeface="Aptos"/>
              </a:defRPr>
            </a:pPr>
            <a:r>
              <a:t>However, submit-time confirmation was not clearly perceived during Install / Remove.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310896"/>
            <a:ext cx="54864" cy="521207"/>
          </a:xfrm>
          <a:prstGeom prst="rect">
            <a:avLst/>
          </a:prstGeom>
          <a:solidFill>
            <a:srgbClr val="40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9144000" cy="22860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408B84"/>
                </a:solidFill>
                <a:latin typeface="Aptos"/>
              </a:defRPr>
            </a:pPr>
            <a:r>
              <a:t>06  CUSTOMER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85216"/>
            <a:ext cx="10789920" cy="438912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1F2D3D"/>
                </a:solidFill>
                <a:latin typeface="Aptos"/>
              </a:defRPr>
            </a:pPr>
            <a:r>
              <a:t>Customer experience risk register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1143000"/>
            <a:ext cx="10908792" cy="0"/>
          </a:xfrm>
          <a:prstGeom prst="line">
            <a:avLst/>
          </a:prstGeom>
          <a:ln w="15240">
            <a:solidFill>
              <a:srgbClr val="E4E9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6519672"/>
            <a:ext cx="4572000" cy="164592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57487"/>
                </a:solidFill>
                <a:latin typeface="Aptos"/>
              </a:defRPr>
            </a:pPr>
            <a:r>
              <a:t>LANDSCAPE  /  CUSTOMER SUCCESS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6501384"/>
            <a:ext cx="987552" cy="18288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 algn="r">
              <a:spcAft>
                <a:spcPts val="0"/>
              </a:spcAft>
              <a:defRPr sz="900" b="0">
                <a:solidFill>
                  <a:srgbClr val="657487"/>
                </a:solidFill>
                <a:latin typeface="Aptos"/>
              </a:defRPr>
            </a:pPr>
            <a:r>
              <a:t>07 /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417320"/>
            <a:ext cx="1828800" cy="27432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657487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1417320"/>
            <a:ext cx="1828800" cy="27432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657487"/>
                </a:solidFill>
                <a:latin typeface="Aptos"/>
              </a:defRPr>
            </a:pPr>
            <a:r>
              <a:t>Observation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1417320"/>
            <a:ext cx="1828800" cy="27432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657487"/>
                </a:solidFill>
                <a:latin typeface="Aptos"/>
              </a:defRPr>
            </a:pPr>
            <a:r>
              <a:t>Assessment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60152" y="1417320"/>
            <a:ext cx="1828800" cy="27432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657487"/>
                </a:solidFill>
                <a:latin typeface="Aptos"/>
              </a:defRPr>
            </a:pPr>
            <a:r>
              <a:t>Priority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1901952"/>
            <a:ext cx="10890504" cy="7406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6384" y="2121408"/>
            <a:ext cx="658368" cy="237744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657487"/>
                </a:solidFill>
                <a:latin typeface="Aptos"/>
              </a:defRPr>
            </a:pPr>
            <a:r>
              <a:t>UX-01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91056" y="2039112"/>
            <a:ext cx="6217920" cy="45720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1F2D3D"/>
                </a:solidFill>
                <a:latin typeface="Aptos"/>
              </a:defRPr>
            </a:pPr>
            <a:r>
              <a:t>Install / Remove submission feedback not apparent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2093976"/>
            <a:ext cx="2011680" cy="292608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657487"/>
                </a:solidFill>
                <a:latin typeface="Aptos"/>
              </a:defRPr>
            </a:pPr>
            <a:r>
              <a:t>Observed twice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22992" y="2112264"/>
            <a:ext cx="1133856" cy="292608"/>
          </a:xfrm>
          <a:prstGeom prst="roundRect">
            <a:avLst>
              <a:gd name="adj" fmla="val 50000"/>
            </a:avLst>
          </a:prstGeom>
          <a:solidFill>
            <a:srgbClr val="F8F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250424" y="2148840"/>
            <a:ext cx="1078992" cy="219456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B7894B"/>
                </a:solidFill>
                <a:latin typeface="Aptos"/>
              </a:defRPr>
            </a:pPr>
            <a:r>
              <a:t>HIGH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2798064"/>
            <a:ext cx="10890504" cy="7406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6384" y="3017520"/>
            <a:ext cx="658368" cy="237744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657487"/>
                </a:solidFill>
                <a:latin typeface="Aptos"/>
              </a:defRPr>
            </a:pPr>
            <a:r>
              <a:t>UX-02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91056" y="2935224"/>
            <a:ext cx="6217920" cy="45720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1F2D3D"/>
                </a:solidFill>
                <a:latin typeface="Aptos"/>
              </a:defRPr>
            </a:pPr>
            <a:r>
              <a:t>Script execution prerequisites unclear on first 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2990088"/>
            <a:ext cx="2011680" cy="292608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657487"/>
                </a:solidFill>
                <a:latin typeface="Aptos"/>
              </a:defRPr>
            </a:pPr>
            <a:r>
              <a:t>Resolved setup friction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222992" y="3008376"/>
            <a:ext cx="1133856" cy="292608"/>
          </a:xfrm>
          <a:prstGeom prst="roundRect">
            <a:avLst>
              <a:gd name="adj" fmla="val 50000"/>
            </a:avLst>
          </a:prstGeom>
          <a:solidFill>
            <a:srgbClr val="F8F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250424" y="3044952"/>
            <a:ext cx="1078992" cy="219456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B7894B"/>
                </a:solidFill>
                <a:latin typeface="Aptos"/>
              </a:defRPr>
            </a:pPr>
            <a:r>
              <a:t>HIGH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694176"/>
            <a:ext cx="10890504" cy="7406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86384" y="3913632"/>
            <a:ext cx="658368" cy="237744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657487"/>
                </a:solidFill>
                <a:latin typeface="Aptos"/>
              </a:defRPr>
            </a:pPr>
            <a:r>
              <a:t>UX-03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91056" y="3831336"/>
            <a:ext cx="6217920" cy="45720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1F2D3D"/>
                </a:solidFill>
                <a:latin typeface="Aptos"/>
              </a:defRPr>
            </a:pPr>
            <a:r>
              <a:t>Online instance shows “No processes running”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3886200"/>
            <a:ext cx="2011680" cy="292608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657487"/>
                </a:solidFill>
                <a:latin typeface="Aptos"/>
              </a:defRPr>
            </a:pPr>
            <a:r>
              <a:t>Root cause unverified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222992" y="3904488"/>
            <a:ext cx="1133856" cy="292608"/>
          </a:xfrm>
          <a:prstGeom prst="roundRect">
            <a:avLst>
              <a:gd name="adj" fmla="val 50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250424" y="3941064"/>
            <a:ext cx="1078992" cy="219456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486D91"/>
                </a:solidFill>
                <a:latin typeface="Aptos"/>
              </a:defRPr>
            </a:pPr>
            <a:r>
              <a:t>INVESTIGATE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590288"/>
            <a:ext cx="10890504" cy="7406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86384" y="4809744"/>
            <a:ext cx="658368" cy="237744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657487"/>
                </a:solidFill>
                <a:latin typeface="Aptos"/>
              </a:defRPr>
            </a:pPr>
            <a:r>
              <a:t>UX-04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91056" y="4727448"/>
            <a:ext cx="6217920" cy="45720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1F2D3D"/>
                </a:solidFill>
                <a:latin typeface="Aptos"/>
              </a:defRPr>
            </a:pPr>
            <a:r>
              <a:t>dpkg marked “Security upgrade”; candidate matches installed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0" y="4782312"/>
            <a:ext cx="2011680" cy="292608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657487"/>
                </a:solidFill>
                <a:latin typeface="Aptos"/>
              </a:defRPr>
            </a:pPr>
            <a:r>
              <a:t>Semantics / sync unclear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222992" y="4800600"/>
            <a:ext cx="1133856" cy="292608"/>
          </a:xfrm>
          <a:prstGeom prst="roundRect">
            <a:avLst>
              <a:gd name="adj" fmla="val 50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250424" y="4837176"/>
            <a:ext cx="1078992" cy="219456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486D91"/>
                </a:solidFill>
                <a:latin typeface="Aptos"/>
              </a:defRPr>
            </a:pPr>
            <a:r>
              <a:t>INVESTIGATE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13232" y="5742432"/>
            <a:ext cx="10753344" cy="384048"/>
          </a:xfrm>
          <a:prstGeom prst="roundRect">
            <a:avLst>
              <a:gd name="adj" fmla="val 12000"/>
            </a:avLst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68680" y="5815584"/>
            <a:ext cx="10378440" cy="237744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657487"/>
                </a:solidFill>
                <a:latin typeface="Aptos"/>
              </a:defRPr>
            </a:pPr>
            <a:r>
              <a:rPr dirty="0"/>
              <a:t>No product defect is asserted where data synchronization or status semantics remain unverified.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310896"/>
            <a:ext cx="54864" cy="521207"/>
          </a:xfrm>
          <a:prstGeom prst="rect">
            <a:avLst/>
          </a:prstGeom>
          <a:solidFill>
            <a:srgbClr val="40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9144000" cy="22860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408B84"/>
                </a:solidFill>
                <a:latin typeface="Aptos"/>
              </a:defRPr>
            </a:pPr>
            <a:r>
              <a:t>07  RESPONSE GUIDES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85216"/>
            <a:ext cx="10789920" cy="438912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1F2D3D"/>
                </a:solidFill>
                <a:latin typeface="Aptos"/>
              </a:defRPr>
            </a:pPr>
            <a:r>
              <a:rPr dirty="0"/>
              <a:t>Customer-facing response playbooks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1143000"/>
            <a:ext cx="10908792" cy="0"/>
          </a:xfrm>
          <a:prstGeom prst="line">
            <a:avLst/>
          </a:prstGeom>
          <a:ln w="15240">
            <a:solidFill>
              <a:srgbClr val="E4E9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6519672"/>
            <a:ext cx="4572000" cy="164592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57487"/>
                </a:solidFill>
                <a:latin typeface="Aptos"/>
              </a:defRPr>
            </a:pPr>
            <a:r>
              <a:t>LANDSCAPE  /  CUSTOMER SUCCESS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6501384"/>
            <a:ext cx="987552" cy="18288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 algn="r">
              <a:spcAft>
                <a:spcPts val="0"/>
              </a:spcAft>
              <a:defRPr sz="900" b="0">
                <a:solidFill>
                  <a:srgbClr val="657487"/>
                </a:solidFill>
                <a:latin typeface="Aptos"/>
              </a:defRPr>
            </a:pPr>
            <a:r>
              <a:t>08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" y="1527048"/>
            <a:ext cx="3538728" cy="4160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23544" y="1828800"/>
            <a:ext cx="530352" cy="530352"/>
          </a:xfrm>
          <a:prstGeom prst="roundRect">
            <a:avLst>
              <a:gd name="adj" fmla="val 50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23544" y="1924812"/>
            <a:ext cx="530352" cy="521207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486D91"/>
                </a:solidFill>
                <a:latin typeface="Aptos"/>
              </a:defRPr>
            </a:pPr>
            <a:r>
              <a:rPr dirty="0"/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69464"/>
            <a:ext cx="3063240" cy="73152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1F2D3D"/>
                </a:solidFill>
                <a:latin typeface="Aptos"/>
              </a:defRPr>
            </a:pPr>
            <a:r>
              <a:t>Task submitted, no visible response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14400" y="3355848"/>
            <a:ext cx="3017520" cy="0"/>
          </a:xfrm>
          <a:prstGeom prst="line">
            <a:avLst/>
          </a:prstGeom>
          <a:ln w="15240">
            <a:solidFill>
              <a:srgbClr val="E4E9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14400" y="3529584"/>
            <a:ext cx="2834640" cy="256032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486D91"/>
                </a:solidFill>
                <a:latin typeface="Aptos"/>
              </a:defRPr>
            </a:pPr>
            <a:r>
              <a:t>RESPONSE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13632"/>
            <a:ext cx="2926080" cy="704088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1F2D3D"/>
                </a:solidFill>
                <a:latin typeface="Aptos"/>
              </a:defRPr>
            </a:pPr>
            <a:r>
              <a:rPr dirty="0"/>
              <a:t>Locate activity → explain states → verify locally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736592"/>
            <a:ext cx="2816352" cy="201168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486D91"/>
                </a:solidFill>
                <a:latin typeface="Aptos"/>
              </a:defRPr>
            </a:pPr>
            <a:r>
              <a:t>SUCCESS CRITERION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56632"/>
            <a:ext cx="2907792" cy="50292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657487"/>
                </a:solidFill>
                <a:latin typeface="Aptos"/>
              </a:defRPr>
            </a:pPr>
            <a:r>
              <a:t>Help admin independently track asynchronous work.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71416" y="1527048"/>
            <a:ext cx="3538728" cy="4160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727448" y="1828800"/>
            <a:ext cx="530352" cy="530352"/>
          </a:xfrm>
          <a:prstGeom prst="roundRect">
            <a:avLst>
              <a:gd name="adj" fmla="val 50000"/>
            </a:avLst>
          </a:prstGeom>
          <a:solidFill>
            <a:srgbClr val="E8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27448" y="1924812"/>
            <a:ext cx="530352" cy="521207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408B84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18304" y="2569464"/>
            <a:ext cx="3063240" cy="73152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1F2D3D"/>
                </a:solidFill>
                <a:latin typeface="Aptos"/>
              </a:defRPr>
            </a:pPr>
            <a:r>
              <a:t>Remote script execution fails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718304" y="3355848"/>
            <a:ext cx="3017520" cy="0"/>
          </a:xfrm>
          <a:prstGeom prst="line">
            <a:avLst/>
          </a:prstGeom>
          <a:ln w="15240">
            <a:solidFill>
              <a:srgbClr val="E4E9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718304" y="3529584"/>
            <a:ext cx="2834640" cy="256032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408B84"/>
                </a:solidFill>
                <a:latin typeface="Aptos"/>
              </a:defRPr>
            </a:pPr>
            <a:r>
              <a:t>RESPONSE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18304" y="3913632"/>
            <a:ext cx="2926080" cy="704088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1F2D3D"/>
                </a:solidFill>
                <a:latin typeface="Aptos"/>
              </a:defRPr>
            </a:pPr>
            <a:r>
              <a:t>Check Online → plugin → script user → read-only retest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18304" y="4736592"/>
            <a:ext cx="2816352" cy="201168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408B84"/>
                </a:solidFill>
                <a:latin typeface="Aptos"/>
              </a:defRPr>
            </a:pPr>
            <a:r>
              <a:t>SUCCESS CRITERION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18304" y="5056632"/>
            <a:ext cx="2907792" cy="50292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657487"/>
                </a:solidFill>
                <a:latin typeface="Aptos"/>
              </a:defRPr>
            </a:pPr>
            <a:r>
              <a:t>Restore authorized execution or escalate to Support.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75320" y="1527048"/>
            <a:ext cx="3538728" cy="4160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531352" y="1828800"/>
            <a:ext cx="530352" cy="530352"/>
          </a:xfrm>
          <a:prstGeom prst="roundRect">
            <a:avLst>
              <a:gd name="adj" fmla="val 50000"/>
            </a:avLst>
          </a:prstGeom>
          <a:solidFill>
            <a:srgbClr val="F8F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522208" y="1920241"/>
            <a:ext cx="530352" cy="521207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B7894B"/>
                </a:solidFill>
                <a:latin typeface="Aptos"/>
              </a:defRPr>
            </a:pPr>
            <a:r>
              <a:rPr dirty="0"/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22208" y="2569464"/>
            <a:ext cx="3063240" cy="73152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1F2D3D"/>
                </a:solidFill>
                <a:latin typeface="Aptos"/>
              </a:defRPr>
            </a:pPr>
            <a:r>
              <a:t>Processes page shows no data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522208" y="3355848"/>
            <a:ext cx="3017520" cy="0"/>
          </a:xfrm>
          <a:prstGeom prst="line">
            <a:avLst/>
          </a:prstGeom>
          <a:ln w="15240">
            <a:solidFill>
              <a:srgbClr val="E4E9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522208" y="3529584"/>
            <a:ext cx="2834640" cy="256032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B7894B"/>
                </a:solidFill>
                <a:latin typeface="Aptos"/>
              </a:defRPr>
            </a:pPr>
            <a:r>
              <a:t>RESPONSE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22208" y="3913632"/>
            <a:ext cx="2926080" cy="704088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1F2D3D"/>
                </a:solidFill>
                <a:latin typeface="Aptos"/>
              </a:defRPr>
            </a:pPr>
            <a:r>
              <a:t>Clarify goal → collect logs → avoid assumptions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22208" y="4736592"/>
            <a:ext cx="2816352" cy="201168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B7894B"/>
                </a:solidFill>
                <a:latin typeface="Aptos"/>
              </a:defRPr>
            </a:pPr>
            <a:r>
              <a:t>SUCCESS CRITERION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22208" y="5056632"/>
            <a:ext cx="2907792" cy="50292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657487"/>
                </a:solidFill>
                <a:latin typeface="Aptos"/>
              </a:defRPr>
            </a:pPr>
            <a:r>
              <a:t>Offer interim query path and investigate data flow.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310896"/>
            <a:ext cx="54864" cy="521207"/>
          </a:xfrm>
          <a:prstGeom prst="rect">
            <a:avLst/>
          </a:prstGeom>
          <a:solidFill>
            <a:srgbClr val="40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9144000" cy="22860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408B84"/>
                </a:solidFill>
                <a:latin typeface="Aptos"/>
              </a:defRPr>
            </a:pPr>
            <a:r>
              <a:t>08  CUSTOMER SUCCESS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85216"/>
            <a:ext cx="10789920" cy="438912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1F2D3D"/>
                </a:solidFill>
                <a:latin typeface="Aptos"/>
              </a:defRPr>
            </a:pPr>
            <a:r>
              <a:t>Cross-functional incident SOP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1143000"/>
            <a:ext cx="10908792" cy="0"/>
          </a:xfrm>
          <a:prstGeom prst="line">
            <a:avLst/>
          </a:prstGeom>
          <a:ln w="15240">
            <a:solidFill>
              <a:srgbClr val="E4E9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6519672"/>
            <a:ext cx="4572000" cy="164592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57487"/>
                </a:solidFill>
                <a:latin typeface="Aptos"/>
              </a:defRPr>
            </a:pPr>
            <a:r>
              <a:t>LANDSCAPE  /  CUSTOMER SUCCESS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6501384"/>
            <a:ext cx="987552" cy="18288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 algn="r">
              <a:spcAft>
                <a:spcPts val="0"/>
              </a:spcAft>
              <a:defRPr sz="900" b="0">
                <a:solidFill>
                  <a:srgbClr val="657487"/>
                </a:solidFill>
                <a:latin typeface="Aptos"/>
              </a:defRPr>
            </a:pPr>
            <a:r>
              <a:t>09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426464"/>
            <a:ext cx="10863072" cy="8869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77240" y="1545336"/>
            <a:ext cx="1828800" cy="640080"/>
          </a:xfrm>
          <a:prstGeom prst="roundRect">
            <a:avLst>
              <a:gd name="adj" fmla="val 20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" y="1719072"/>
            <a:ext cx="1700784" cy="27432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486D91"/>
                </a:solidFill>
                <a:latin typeface="Aptos"/>
              </a:defRPr>
            </a:pPr>
            <a:r>
              <a:t>CUSTOMER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26664" y="1609344"/>
            <a:ext cx="2880360" cy="502920"/>
          </a:xfrm>
          <a:prstGeom prst="roundRect">
            <a:avLst>
              <a:gd name="adj" fmla="val 20000"/>
            </a:avLst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91256" y="1728216"/>
            <a:ext cx="2651760" cy="237744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1F2D3D"/>
                </a:solidFill>
                <a:latin typeface="Aptos"/>
              </a:defRPr>
            </a:pPr>
            <a:r>
              <a:t>Submit issue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35040" y="1865376"/>
            <a:ext cx="722376" cy="0"/>
          </a:xfrm>
          <a:prstGeom prst="line">
            <a:avLst/>
          </a:prstGeom>
          <a:ln w="19050">
            <a:solidFill>
              <a:srgbClr val="6574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693408" y="1801368"/>
            <a:ext cx="73152" cy="64008"/>
          </a:xfrm>
          <a:prstGeom prst="line">
            <a:avLst/>
          </a:prstGeom>
          <a:ln w="19050">
            <a:solidFill>
              <a:srgbClr val="6574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6693408" y="1865376"/>
            <a:ext cx="73152" cy="64008"/>
          </a:xfrm>
          <a:prstGeom prst="line">
            <a:avLst/>
          </a:prstGeom>
          <a:ln w="19050">
            <a:solidFill>
              <a:srgbClr val="6574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040880" y="1609344"/>
            <a:ext cx="3931920" cy="502920"/>
          </a:xfrm>
          <a:prstGeom prst="roundRect">
            <a:avLst>
              <a:gd name="adj" fmla="val 20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14616" y="1728216"/>
            <a:ext cx="3566160" cy="246888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1F2D3D"/>
                </a:solidFill>
                <a:latin typeface="Aptos"/>
              </a:defRPr>
            </a:pPr>
            <a:r>
              <a:t>Confirm outcome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2478024"/>
            <a:ext cx="10863072" cy="8869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77240" y="2596896"/>
            <a:ext cx="1828800" cy="640080"/>
          </a:xfrm>
          <a:prstGeom prst="roundRect">
            <a:avLst>
              <a:gd name="adj" fmla="val 20000"/>
            </a:avLst>
          </a:prstGeom>
          <a:solidFill>
            <a:srgbClr val="E8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8" y="2770632"/>
            <a:ext cx="1700784" cy="27432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408B84"/>
                </a:solidFill>
                <a:latin typeface="Aptos"/>
              </a:defRPr>
            </a:pPr>
            <a:r>
              <a:t>CSM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26664" y="2660904"/>
            <a:ext cx="2880360" cy="502920"/>
          </a:xfrm>
          <a:prstGeom prst="roundRect">
            <a:avLst>
              <a:gd name="adj" fmla="val 20000"/>
            </a:avLst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191256" y="2779776"/>
            <a:ext cx="2651760" cy="237744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1F2D3D"/>
                </a:solidFill>
                <a:latin typeface="Aptos"/>
              </a:defRPr>
            </a:pPr>
            <a:r>
              <a:t>Triage &amp; impact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35040" y="2916936"/>
            <a:ext cx="722376" cy="0"/>
          </a:xfrm>
          <a:prstGeom prst="line">
            <a:avLst/>
          </a:prstGeom>
          <a:ln w="19050">
            <a:solidFill>
              <a:srgbClr val="6574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693408" y="2852928"/>
            <a:ext cx="73152" cy="64008"/>
          </a:xfrm>
          <a:prstGeom prst="line">
            <a:avLst/>
          </a:prstGeom>
          <a:ln w="19050">
            <a:solidFill>
              <a:srgbClr val="6574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693408" y="2916936"/>
            <a:ext cx="73152" cy="64008"/>
          </a:xfrm>
          <a:prstGeom prst="line">
            <a:avLst/>
          </a:prstGeom>
          <a:ln w="19050">
            <a:solidFill>
              <a:srgbClr val="6574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040880" y="2660904"/>
            <a:ext cx="3931920" cy="502920"/>
          </a:xfrm>
          <a:prstGeom prst="roundRect">
            <a:avLst>
              <a:gd name="adj" fmla="val 20000"/>
            </a:avLst>
          </a:prstGeom>
          <a:solidFill>
            <a:srgbClr val="E8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214616" y="2779776"/>
            <a:ext cx="3566160" cy="246888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1F2D3D"/>
                </a:solidFill>
                <a:latin typeface="Aptos"/>
              </a:defRPr>
            </a:pPr>
            <a:r>
              <a:t>Update stakeholders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3529584"/>
            <a:ext cx="10863072" cy="8869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777240" y="3648456"/>
            <a:ext cx="1828800" cy="640080"/>
          </a:xfrm>
          <a:prstGeom prst="roundRect">
            <a:avLst>
              <a:gd name="adj" fmla="val 20000"/>
            </a:avLst>
          </a:prstGeom>
          <a:solidFill>
            <a:srgbClr val="F8F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1248" y="3822191"/>
            <a:ext cx="1700784" cy="27432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B7894B"/>
                </a:solidFill>
                <a:latin typeface="Aptos"/>
              </a:defRPr>
            </a:pPr>
            <a:r>
              <a:t>SUPPORT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026664" y="3712463"/>
            <a:ext cx="2880360" cy="502920"/>
          </a:xfrm>
          <a:prstGeom prst="roundRect">
            <a:avLst>
              <a:gd name="adj" fmla="val 20000"/>
            </a:avLst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191256" y="3831335"/>
            <a:ext cx="2651760" cy="237744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1F2D3D"/>
                </a:solidFill>
                <a:latin typeface="Aptos"/>
              </a:defRPr>
            </a:pPr>
            <a:r>
              <a:t>Reproduce &amp; diagnose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035040" y="3968496"/>
            <a:ext cx="722376" cy="0"/>
          </a:xfrm>
          <a:prstGeom prst="line">
            <a:avLst/>
          </a:prstGeom>
          <a:ln w="19050">
            <a:solidFill>
              <a:srgbClr val="6574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693408" y="3904487"/>
            <a:ext cx="73152" cy="64009"/>
          </a:xfrm>
          <a:prstGeom prst="line">
            <a:avLst/>
          </a:prstGeom>
          <a:ln w="19050">
            <a:solidFill>
              <a:srgbClr val="6574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6693408" y="3968496"/>
            <a:ext cx="73152" cy="64008"/>
          </a:xfrm>
          <a:prstGeom prst="line">
            <a:avLst/>
          </a:prstGeom>
          <a:ln w="19050">
            <a:solidFill>
              <a:srgbClr val="6574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7040880" y="3712463"/>
            <a:ext cx="3931920" cy="502920"/>
          </a:xfrm>
          <a:prstGeom prst="roundRect">
            <a:avLst>
              <a:gd name="adj" fmla="val 20000"/>
            </a:avLst>
          </a:prstGeom>
          <a:solidFill>
            <a:srgbClr val="F8F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214616" y="3831335"/>
            <a:ext cx="3566160" cy="246888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1F2D3D"/>
                </a:solidFill>
                <a:latin typeface="Aptos"/>
              </a:defRPr>
            </a:pPr>
            <a:r>
              <a:t>Fix / workaround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581144"/>
            <a:ext cx="10863072" cy="8869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777240" y="4700016"/>
            <a:ext cx="1828800" cy="640080"/>
          </a:xfrm>
          <a:prstGeom prst="roundRect">
            <a:avLst>
              <a:gd name="adj" fmla="val 20000"/>
            </a:avLst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41248" y="4873752"/>
            <a:ext cx="1700784" cy="27432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486D91"/>
                </a:solidFill>
                <a:latin typeface="Aptos"/>
              </a:defRPr>
            </a:pPr>
            <a:r>
              <a:t>PRODUCT / ENG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026664" y="4764024"/>
            <a:ext cx="2880360" cy="502920"/>
          </a:xfrm>
          <a:prstGeom prst="roundRect">
            <a:avLst>
              <a:gd name="adj" fmla="val 20000"/>
            </a:avLst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191256" y="4882896"/>
            <a:ext cx="2651760" cy="237744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1F2D3D"/>
                </a:solidFill>
                <a:latin typeface="Aptos"/>
              </a:defRPr>
            </a:pPr>
            <a:r>
              <a:t>Assess product gap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035040" y="5020056"/>
            <a:ext cx="722376" cy="0"/>
          </a:xfrm>
          <a:prstGeom prst="line">
            <a:avLst/>
          </a:prstGeom>
          <a:ln w="19050">
            <a:solidFill>
              <a:srgbClr val="6574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693408" y="4956048"/>
            <a:ext cx="73152" cy="64008"/>
          </a:xfrm>
          <a:prstGeom prst="line">
            <a:avLst/>
          </a:prstGeom>
          <a:ln w="19050">
            <a:solidFill>
              <a:srgbClr val="6574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6693408" y="5020056"/>
            <a:ext cx="73152" cy="64008"/>
          </a:xfrm>
          <a:prstGeom prst="line">
            <a:avLst/>
          </a:prstGeom>
          <a:ln w="19050">
            <a:solidFill>
              <a:srgbClr val="6574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7040880" y="4764024"/>
            <a:ext cx="3931920" cy="502920"/>
          </a:xfrm>
          <a:prstGeom prst="roundRect">
            <a:avLst>
              <a:gd name="adj" fmla="val 20000"/>
            </a:avLst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214616" y="4882896"/>
            <a:ext cx="3566160" cy="246888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1F2D3D"/>
                </a:solidFill>
                <a:latin typeface="Aptos"/>
              </a:defRPr>
            </a:pPr>
            <a:r>
              <a:t>Docs / backlog / release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670048" y="2359152"/>
            <a:ext cx="265176" cy="256032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408B84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17520" y="2368296"/>
            <a:ext cx="6675120" cy="22860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657487"/>
                </a:solidFill>
                <a:latin typeface="Aptos"/>
              </a:defRPr>
            </a:pPr>
            <a:r>
              <a:t>Business impact + evidence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670048" y="3410712"/>
            <a:ext cx="265176" cy="256032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408B84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017520" y="3419856"/>
            <a:ext cx="6675120" cy="22860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657487"/>
                </a:solidFill>
                <a:latin typeface="Aptos"/>
              </a:defRPr>
            </a:pPr>
            <a:r>
              <a:t>Escalation packet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670048" y="4462272"/>
            <a:ext cx="265176" cy="256032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408B84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017520" y="4471416"/>
            <a:ext cx="6675120" cy="22860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657487"/>
                </a:solidFill>
                <a:latin typeface="Aptos"/>
              </a:defRPr>
            </a:pPr>
            <a:r>
              <a:t>Root cause + recommendation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31520" y="5806440"/>
            <a:ext cx="10698480" cy="356616"/>
          </a:xfrm>
          <a:prstGeom prst="roundRect">
            <a:avLst>
              <a:gd name="adj" fmla="val 12000"/>
            </a:avLst>
          </a:prstGeom>
          <a:solidFill>
            <a:srgbClr val="E8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50976" y="5852160"/>
            <a:ext cx="10268712" cy="246888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408B84"/>
                </a:solidFill>
                <a:latin typeface="Aptos"/>
              </a:defRPr>
            </a:pPr>
            <a:r>
              <a:t>CSM owns customer communication and closure; Support owns diagnosis; Product/Engineering owns product change.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310896"/>
            <a:ext cx="54864" cy="521207"/>
          </a:xfrm>
          <a:prstGeom prst="rect">
            <a:avLst/>
          </a:prstGeom>
          <a:solidFill>
            <a:srgbClr val="40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9144000" cy="22860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408B84"/>
                </a:solidFill>
                <a:latin typeface="Aptos"/>
              </a:defRPr>
            </a:pPr>
            <a:r>
              <a:t>09  PRIORITIES &amp; OWNERSHIP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85216"/>
            <a:ext cx="10789920" cy="438912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1F2D3D"/>
                </a:solidFill>
                <a:latin typeface="Aptos"/>
              </a:defRPr>
            </a:pPr>
            <a:r>
              <a:t>Next-phase action plan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1143000"/>
            <a:ext cx="10908792" cy="0"/>
          </a:xfrm>
          <a:prstGeom prst="line">
            <a:avLst/>
          </a:prstGeom>
          <a:ln w="15240">
            <a:solidFill>
              <a:srgbClr val="E4E9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6519672"/>
            <a:ext cx="4572000" cy="164592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57487"/>
                </a:solidFill>
                <a:latin typeface="Aptos"/>
              </a:defRPr>
            </a:pPr>
            <a:r>
              <a:t>LANDSCAPE  /  CUSTOMER SUCCESS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6501384"/>
            <a:ext cx="987552" cy="18288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 algn="r">
              <a:spcAft>
                <a:spcPts val="0"/>
              </a:spcAft>
              <a:defRPr sz="900" b="0">
                <a:solidFill>
                  <a:srgbClr val="657487"/>
                </a:solidFill>
                <a:latin typeface="Aptos"/>
              </a:defRPr>
            </a:pPr>
            <a:r>
              <a:t>10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444752"/>
            <a:ext cx="5321808" cy="1709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23544" y="1691640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50976" y="1728216"/>
            <a:ext cx="402336" cy="219456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486D91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1682496"/>
            <a:ext cx="4069080" cy="329184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1F2D3D"/>
                </a:solidFill>
                <a:latin typeface="Aptos"/>
              </a:defRPr>
            </a:pPr>
            <a:r>
              <a:t>Onboarding enablement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2203704"/>
            <a:ext cx="4754880" cy="374904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657487"/>
                </a:solidFill>
                <a:latin typeface="Aptos"/>
              </a:defRPr>
            </a:pPr>
            <a:r>
              <a:t>Script prerequisites + first-run checklist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2770632"/>
            <a:ext cx="4754880" cy="246888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486D91"/>
                </a:solidFill>
                <a:latin typeface="Aptos"/>
              </a:defRPr>
            </a:pPr>
            <a:r>
              <a:t>Owner: CSM / Enablement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5352" y="1444752"/>
            <a:ext cx="5321808" cy="1709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510528" y="1691640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F8F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37960" y="1728216"/>
            <a:ext cx="402336" cy="219456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B7894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23176" y="1682496"/>
            <a:ext cx="4069080" cy="329184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1F2D3D"/>
                </a:solidFill>
                <a:latin typeface="Aptos"/>
              </a:defRPr>
            </a:pPr>
            <a:r>
              <a:t>Open investigations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203704"/>
            <a:ext cx="4754880" cy="374904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657487"/>
                </a:solidFill>
                <a:latin typeface="Aptos"/>
              </a:defRPr>
            </a:pPr>
            <a:r>
              <a:t>Processes empty state + dpkg status semantics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770632"/>
            <a:ext cx="4754880" cy="246888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B7894B"/>
                </a:solidFill>
                <a:latin typeface="Aptos"/>
              </a:defRPr>
            </a:pPr>
            <a:r>
              <a:t>Owner: Support / Product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392424"/>
            <a:ext cx="5321808" cy="1709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23544" y="3639312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E8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50976" y="3675887"/>
            <a:ext cx="402336" cy="219456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408B84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36192" y="3630168"/>
            <a:ext cx="4069080" cy="329184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1F2D3D"/>
                </a:solidFill>
                <a:latin typeface="Aptos"/>
              </a:defRPr>
            </a:pPr>
            <a:r>
              <a:t>Reusable support assets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" y="4151376"/>
            <a:ext cx="4754880" cy="374904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657487"/>
                </a:solidFill>
                <a:latin typeface="Aptos"/>
              </a:defRPr>
            </a:pPr>
            <a:r>
              <a:t>Task-tracking guide + incident playbooks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" y="4718304"/>
            <a:ext cx="4754880" cy="246888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408B84"/>
                </a:solidFill>
                <a:latin typeface="Aptos"/>
              </a:defRPr>
            </a:pPr>
            <a:r>
              <a:t>Owner: CSM / Support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45352" y="3392424"/>
            <a:ext cx="5321808" cy="1709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510528" y="3639312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37960" y="3675887"/>
            <a:ext cx="402336" cy="219456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486D91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23176" y="3630168"/>
            <a:ext cx="4069080" cy="329184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1F2D3D"/>
                </a:solidFill>
                <a:latin typeface="Aptos"/>
              </a:defRPr>
            </a:pPr>
            <a:r>
              <a:t>Expand test coverage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4151376"/>
            <a:ext cx="4754880" cy="374904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657487"/>
                </a:solidFill>
                <a:latin typeface="Aptos"/>
              </a:defRPr>
            </a:pPr>
            <a:r>
              <a:t>Second Ubuntu instance; grouping and batch tasks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4718304"/>
            <a:ext cx="4754880" cy="246888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486D91"/>
                </a:solidFill>
                <a:latin typeface="Aptos"/>
              </a:defRPr>
            </a:pPr>
            <a:r>
              <a:t>Owner: Operations / Support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5724144"/>
            <a:ext cx="10826496" cy="438912"/>
          </a:xfrm>
          <a:prstGeom prst="roundRect">
            <a:avLst>
              <a:gd name="adj" fmla="val 12000"/>
            </a:avLst>
          </a:prstGeom>
          <a:solidFill>
            <a:srgbClr val="E8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23544" y="5815584"/>
            <a:ext cx="10287000" cy="265176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408B84"/>
                </a:solidFill>
                <a:latin typeface="Aptos"/>
              </a:defRPr>
            </a:pPr>
            <a:r>
              <a:t>Direction: shorten TTFV, improve state clarity, and scale repeatable customer support.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824</Words>
  <Application>Microsoft Office PowerPoint</Application>
  <PresentationFormat>Widescreen</PresentationFormat>
  <Paragraphs>222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Yifei Tong</cp:lastModifiedBy>
  <cp:revision>5</cp:revision>
  <dcterms:created xsi:type="dcterms:W3CDTF">2013-01-27T09:14:16Z</dcterms:created>
  <dcterms:modified xsi:type="dcterms:W3CDTF">2026-10-18T08:21:18Z</dcterms:modified>
  <cp:category/>
</cp:coreProperties>
</file>